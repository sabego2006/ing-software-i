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Play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PxN30NcFTkMF9lmz5Q5QLsKsL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Play-bold.fntdata"/><Relationship Id="rId10" Type="http://schemas.openxmlformats.org/officeDocument/2006/relationships/slide" Target="slides/slide6.xml"/><Relationship Id="rId21" Type="http://schemas.openxmlformats.org/officeDocument/2006/relationships/font" Target="fonts/Play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Qué es el Desarrollo de Software? - starkcloud.com" id="85" name="Google Shape;85;p1"/>
          <p:cNvPicPr preferRelativeResize="0"/>
          <p:nvPr/>
        </p:nvPicPr>
        <p:blipFill rotWithShape="1">
          <a:blip r:embed="rId3">
            <a:alphaModFix/>
          </a:blip>
          <a:srcRect b="0" l="15401" r="0" t="0"/>
          <a:stretch/>
        </p:blipFill>
        <p:spPr>
          <a:xfrm>
            <a:off x="1" y="10"/>
            <a:ext cx="966964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39"/>
                </a:srgbClr>
              </a:gs>
              <a:gs pos="35000">
                <a:srgbClr val="FFFFFF">
                  <a:alpha val="76863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>
            <p:ph type="ctrTitle"/>
          </p:nvPr>
        </p:nvSpPr>
        <p:spPr>
          <a:xfrm>
            <a:off x="7935402" y="743447"/>
            <a:ext cx="3445765" cy="36920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lay"/>
              <a:buNone/>
            </a:pPr>
            <a:r>
              <a:rPr lang="es-ES" sz="5200"/>
              <a:t>Ingeniería de Software </a:t>
            </a:r>
            <a:endParaRPr/>
          </a:p>
        </p:txBody>
      </p:sp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7935403" y="4629234"/>
            <a:ext cx="3445766" cy="1485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s-ES" sz="1900"/>
              <a:t>CICLO DE VIDA DEL SOFTWARE, CASCADA Y CDIO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s-ES" sz="1900"/>
              <a:t>Ingeniero Luiferney Ortiz Parra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1" y="0"/>
            <a:ext cx="8522446" cy="228599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96900" sx="90000" rotWithShape="0" algn="t" dir="7140000" dist="304800" sy="90000">
              <a:srgbClr val="000000">
                <a:alpha val="1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>
            <p:ph type="title"/>
          </p:nvPr>
        </p:nvSpPr>
        <p:spPr>
          <a:xfrm>
            <a:off x="761803" y="350196"/>
            <a:ext cx="4646904" cy="16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s-ES" sz="4000"/>
              <a:t>Objetivo de la clase</a:t>
            </a:r>
            <a:endParaRPr sz="4000"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761802" y="2743200"/>
            <a:ext cx="4646905" cy="36131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/>
              <a:t>Comprenda el concepto de Ciclo de Vida del Software.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/>
              <a:t>Analice el modelo en cascada desde una perspectiva técnica y crítica.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/>
              <a:t>Conozca el enfoque CDIO.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/>
              <a:t>Evalúe cómo impactaría una metodología tradicional en su Proyecto Integrador.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/>
              <a:t>Desarrolle criterio ingenieril, no solo conocimiento teórico.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6250" l="1508" r="51564" t="0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" name="Google Shape;103;p3"/>
          <p:cNvGrpSpPr/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</p:grpSpPr>
        <p:sp>
          <p:nvSpPr>
            <p:cNvPr id="104" name="Google Shape;104;p3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3"/>
          <p:cNvSpPr/>
          <p:nvPr/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>
            <p:ph type="title"/>
          </p:nvPr>
        </p:nvSpPr>
        <p:spPr>
          <a:xfrm>
            <a:off x="1043631" y="809898"/>
            <a:ext cx="994271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es-ES" sz="4800"/>
              <a:t>Apertura estratégica</a:t>
            </a:r>
            <a:endParaRPr sz="4800"/>
          </a:p>
        </p:txBody>
      </p:sp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1045028" y="3017522"/>
            <a:ext cx="9941319" cy="3124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s-ES" sz="1500"/>
              <a:t>“Imaginen que después del Comité 1 les dicen:</a:t>
            </a:r>
            <a:br>
              <a:rPr lang="es-ES" sz="1500"/>
            </a:br>
            <a:r>
              <a:rPr lang="es-ES" sz="1500"/>
              <a:t> A partir de hoy no pueden cambiar absolutamente nada del proyecto.</a:t>
            </a:r>
            <a:br>
              <a:rPr lang="es-ES" sz="1500"/>
            </a:br>
            <a:r>
              <a:rPr lang="es-ES" sz="1500"/>
              <a:t> Ni un requerimiento. Ni una funcionalidad. Ni una decisión.”</a:t>
            </a:r>
            <a:endParaRPr sz="15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s-ES" sz="1500"/>
              <a:t>Pregunta al grupo:</a:t>
            </a:r>
            <a:endParaRPr sz="15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s-ES" sz="1500"/>
              <a:t>¿Qué sentirían?</a:t>
            </a:r>
            <a:endParaRPr sz="15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s-ES" sz="1500"/>
              <a:t>¿Están listos para congelar todo?</a:t>
            </a:r>
            <a:endParaRPr sz="15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s-ES" sz="1500"/>
              <a:t>¿Ya conocen todos los riesgos?</a:t>
            </a:r>
            <a:endParaRPr sz="15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s-ES" sz="1500"/>
              <a:t>Durante muchos años el software se desarrolló bajo modelos rígidos.</a:t>
            </a:r>
            <a:br>
              <a:rPr lang="es-ES" sz="1500"/>
            </a:br>
            <a:r>
              <a:rPr lang="es-ES" sz="1500"/>
              <a:t> Y esos modelos surgieron porque era necesario ordenar el caos.</a:t>
            </a:r>
            <a:endParaRPr sz="15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s-ES" sz="1500"/>
              <a:t>Hoy vamos a entender por qué nacieron y cuándo funcionan.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/>
          </a:p>
        </p:txBody>
      </p:sp>
      <p:cxnSp>
        <p:nvCxnSpPr>
          <p:cNvPr id="110" name="Google Shape;110;p3"/>
          <p:cNvCxnSpPr/>
          <p:nvPr/>
        </p:nvCxnSpPr>
        <p:spPr>
          <a:xfrm rot="10800000">
            <a:off x="838200" y="6485313"/>
            <a:ext cx="10515600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" y="0"/>
            <a:ext cx="8522446" cy="228599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96900" sx="90000" rotWithShape="0" algn="t" dir="7140000" dist="304800" sy="90000">
              <a:srgbClr val="000000">
                <a:alpha val="1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/>
          <p:nvPr>
            <p:ph type="title"/>
          </p:nvPr>
        </p:nvSpPr>
        <p:spPr>
          <a:xfrm>
            <a:off x="761803" y="350196"/>
            <a:ext cx="4646904" cy="16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"/>
              <a:buNone/>
            </a:pPr>
            <a:r>
              <a:rPr lang="es-ES" sz="3700"/>
              <a:t>El Ciclo de Vida del Software (Concepto Fundamental)</a:t>
            </a:r>
            <a:endParaRPr sz="3700"/>
          </a:p>
        </p:txBody>
      </p:sp>
      <p:sp>
        <p:nvSpPr>
          <p:cNvPr id="118" name="Google Shape;118;p4"/>
          <p:cNvSpPr txBox="1"/>
          <p:nvPr>
            <p:ph idx="1" type="body"/>
          </p:nvPr>
        </p:nvSpPr>
        <p:spPr>
          <a:xfrm>
            <a:off x="761802" y="2743200"/>
            <a:ext cx="4646905" cy="36131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ES" sz="2000"/>
              <a:t>El Ciclo de Vida del Software es el conjunto de fases por las que pasa un sistema desde su concepción hasta su retiro o reemplazo.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ES" sz="2000"/>
              <a:t>No es una metodología.</a:t>
            </a:r>
            <a:br>
              <a:rPr lang="es-ES" sz="2000"/>
            </a:br>
            <a:r>
              <a:rPr lang="es-ES" sz="2000"/>
              <a:t> Es una estructura general.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id="119" name="Google Shape;119;p4"/>
          <p:cNvPicPr preferRelativeResize="0"/>
          <p:nvPr/>
        </p:nvPicPr>
        <p:blipFill rotWithShape="1">
          <a:blip r:embed="rId3">
            <a:alphaModFix/>
          </a:blip>
          <a:srcRect b="-3" l="40082" r="-3" t="0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 txBox="1"/>
          <p:nvPr>
            <p:ph type="title"/>
          </p:nvPr>
        </p:nvSpPr>
        <p:spPr>
          <a:xfrm>
            <a:off x="761800" y="762001"/>
            <a:ext cx="5334197" cy="1708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s-ES" sz="4000"/>
              <a:t>Fases tradicionales</a:t>
            </a:r>
            <a:endParaRPr sz="4000"/>
          </a:p>
        </p:txBody>
      </p:sp>
      <p:sp>
        <p:nvSpPr>
          <p:cNvPr id="126" name="Google Shape;126;p5"/>
          <p:cNvSpPr txBox="1"/>
          <p:nvPr>
            <p:ph idx="1" type="body"/>
          </p:nvPr>
        </p:nvSpPr>
        <p:spPr>
          <a:xfrm>
            <a:off x="761800" y="2470244"/>
            <a:ext cx="5334197" cy="3769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s-ES" sz="1700"/>
              <a:t>Levantamiento de requerimientos</a:t>
            </a:r>
            <a:endParaRPr sz="17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s-ES" sz="1700"/>
              <a:t>Análisis</a:t>
            </a:r>
            <a:endParaRPr sz="17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s-ES" sz="1700"/>
              <a:t>Diseño</a:t>
            </a:r>
            <a:endParaRPr sz="17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s-ES" sz="1700"/>
              <a:t>Implementación</a:t>
            </a:r>
            <a:endParaRPr sz="17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s-ES" sz="1700"/>
              <a:t>Pruebas</a:t>
            </a:r>
            <a:endParaRPr sz="17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s-ES" sz="1700"/>
              <a:t>Despliegue</a:t>
            </a:r>
            <a:endParaRPr sz="17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s-ES" sz="1700"/>
              <a:t>Mantenimiento</a:t>
            </a:r>
            <a:endParaRPr sz="1700"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s-ES" sz="1700"/>
              <a:t>Explica algo clave:</a:t>
            </a:r>
            <a:endParaRPr sz="17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s-ES" sz="1700"/>
              <a:t>El mantenimiento no es opcional.</a:t>
            </a:r>
            <a:br>
              <a:rPr lang="es-ES" sz="1700"/>
            </a:br>
            <a:r>
              <a:rPr lang="es-ES" sz="1700"/>
              <a:t> La mayor parte del costo del software ocurre después de que se entrega.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</p:txBody>
      </p:sp>
      <p:pic>
        <p:nvPicPr>
          <p:cNvPr descr="Vista superior de cubos conectados con líneas negras" id="127" name="Google Shape;127;p5"/>
          <p:cNvPicPr preferRelativeResize="0"/>
          <p:nvPr/>
        </p:nvPicPr>
        <p:blipFill rotWithShape="1">
          <a:blip r:embed="rId3">
            <a:alphaModFix/>
          </a:blip>
          <a:srcRect b="2" l="26032" r="15726" t="0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noFill/>
          <a:ln>
            <a:noFill/>
          </a:ln>
          <a:effectLst>
            <a:outerShdw blurRad="127000" sx="99000" rotWithShape="0" algn="r" dir="10800000" dist="50800" sy="99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" y="0"/>
            <a:ext cx="8522446" cy="228599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96900" sx="90000" rotWithShape="0" algn="t" dir="7140000" dist="304800" sy="90000">
              <a:srgbClr val="000000">
                <a:alpha val="1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 txBox="1"/>
          <p:nvPr>
            <p:ph type="title"/>
          </p:nvPr>
        </p:nvSpPr>
        <p:spPr>
          <a:xfrm>
            <a:off x="761803" y="350196"/>
            <a:ext cx="4646904" cy="16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s-ES" sz="4000"/>
              <a:t>Conexión con el Proyecto Integrador</a:t>
            </a:r>
            <a:endParaRPr sz="4000"/>
          </a:p>
        </p:txBody>
      </p:sp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761802" y="2743200"/>
            <a:ext cx="4646905" cy="36131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/>
              <a:t>Definición del problema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/>
              <a:t>Aprobación de idea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/>
              <a:t>Alcance</a:t>
            </a:r>
            <a:endParaRPr sz="2000"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ES" sz="2000"/>
              <a:t>Es decir, ya están dentro de un ciclo de vida.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descr="Esferas en 3D conectados con una línea roja" id="136" name="Google Shape;136;p6"/>
          <p:cNvPicPr preferRelativeResize="0"/>
          <p:nvPr/>
        </p:nvPicPr>
        <p:blipFill rotWithShape="1">
          <a:blip r:embed="rId3">
            <a:alphaModFix/>
          </a:blip>
          <a:srcRect b="3" l="17772" r="15489" t="0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presentación en 3D de una ciudad en blanco" id="142" name="Google Shape;142;p7"/>
          <p:cNvPicPr preferRelativeResize="0"/>
          <p:nvPr/>
        </p:nvPicPr>
        <p:blipFill rotWithShape="1">
          <a:blip r:embed="rId3">
            <a:alphaModFix/>
          </a:blip>
          <a:srcRect b="2" l="21210" r="30873" t="0"/>
          <a:stretch/>
        </p:blipFill>
        <p:spPr>
          <a:xfrm>
            <a:off x="-1" y="-2"/>
            <a:ext cx="5410198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5410197" y="-1"/>
            <a:ext cx="6781802" cy="228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55600" sx="95000" rotWithShape="0" algn="t" dist="152400" sy="95000">
              <a:srgbClr val="000000">
                <a:alpha val="290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 txBox="1"/>
          <p:nvPr>
            <p:ph type="title"/>
          </p:nvPr>
        </p:nvSpPr>
        <p:spPr>
          <a:xfrm>
            <a:off x="6115317" y="405685"/>
            <a:ext cx="5464968" cy="1559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s-ES" sz="4000"/>
              <a:t>Modelo en Cascada</a:t>
            </a:r>
            <a:endParaRPr sz="4000"/>
          </a:p>
        </p:txBody>
      </p:sp>
      <p:sp>
        <p:nvSpPr>
          <p:cNvPr id="145" name="Google Shape;145;p7"/>
          <p:cNvSpPr txBox="1"/>
          <p:nvPr>
            <p:ph idx="1" type="body"/>
          </p:nvPr>
        </p:nvSpPr>
        <p:spPr>
          <a:xfrm>
            <a:off x="6115317" y="2743200"/>
            <a:ext cx="5247340" cy="34968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ES" sz="2000"/>
              <a:t>Origen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ES" sz="2000"/>
              <a:t>Surge en los años 70, cuando los proyectos eran grandes, costosos y requerían documentación formal.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ES" sz="2000"/>
              <a:t>Se inspira en modelos de ingeniería civil.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" name="Google Shape;151;p8"/>
          <p:cNvGrpSpPr/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</p:grpSpPr>
        <p:sp>
          <p:nvSpPr>
            <p:cNvPr id="152" name="Google Shape;152;p8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8"/>
          <p:cNvSpPr/>
          <p:nvPr/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 txBox="1"/>
          <p:nvPr>
            <p:ph type="title"/>
          </p:nvPr>
        </p:nvSpPr>
        <p:spPr>
          <a:xfrm>
            <a:off x="1043631" y="809898"/>
            <a:ext cx="994271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es-ES" sz="4800"/>
              <a:t>Estructura</a:t>
            </a:r>
            <a:endParaRPr sz="4800"/>
          </a:p>
        </p:txBody>
      </p:sp>
      <p:sp>
        <p:nvSpPr>
          <p:cNvPr id="157" name="Google Shape;157;p8"/>
          <p:cNvSpPr txBox="1"/>
          <p:nvPr>
            <p:ph idx="1" type="body"/>
          </p:nvPr>
        </p:nvSpPr>
        <p:spPr>
          <a:xfrm>
            <a:off x="1045028" y="3017522"/>
            <a:ext cx="9941319" cy="3124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Cada fase debe completarse antes de pasar a la siguiente.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Requerimientos → Diseño → Implementación → Pruebas → Mantenimiento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No se regresa fácilmente.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cxnSp>
        <p:nvCxnSpPr>
          <p:cNvPr id="158" name="Google Shape;158;p8"/>
          <p:cNvCxnSpPr/>
          <p:nvPr/>
        </p:nvCxnSpPr>
        <p:spPr>
          <a:xfrm rot="10800000">
            <a:off x="838200" y="6485313"/>
            <a:ext cx="10515600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9"/>
          <p:cNvSpPr txBox="1"/>
          <p:nvPr>
            <p:ph type="title"/>
          </p:nvPr>
        </p:nvSpPr>
        <p:spPr>
          <a:xfrm>
            <a:off x="761800" y="762001"/>
            <a:ext cx="5334197" cy="1708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s-ES" sz="4000"/>
              <a:t>Características</a:t>
            </a:r>
            <a:endParaRPr/>
          </a:p>
        </p:txBody>
      </p:sp>
      <p:sp>
        <p:nvSpPr>
          <p:cNvPr id="165" name="Google Shape;165;p9"/>
          <p:cNvSpPr txBox="1"/>
          <p:nvPr>
            <p:ph idx="1" type="body"/>
          </p:nvPr>
        </p:nvSpPr>
        <p:spPr>
          <a:xfrm>
            <a:off x="761800" y="2470244"/>
            <a:ext cx="5334197" cy="3769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Alta documentación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Control formal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Cambios costosos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Validación tardía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/>
              <a:t>Fases claramente separadas</a:t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descr="Organizadores de diferentes colores" id="166" name="Google Shape;166;p9"/>
          <p:cNvPicPr preferRelativeResize="0"/>
          <p:nvPr/>
        </p:nvPicPr>
        <p:blipFill rotWithShape="1">
          <a:blip r:embed="rId3">
            <a:alphaModFix/>
          </a:blip>
          <a:srcRect b="2" l="26717" r="26303" t="0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noFill/>
          <a:ln>
            <a:noFill/>
          </a:ln>
          <a:effectLst>
            <a:outerShdw blurRad="127000" sx="99000" rotWithShape="0" algn="r" dir="10800000" dist="50800" sy="99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0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0F4761"/>
              </a:gs>
            </a:gsLst>
            <a:lin ang="197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0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0A2F41">
                  <a:alpha val="67843"/>
                </a:srgbClr>
              </a:gs>
              <a:gs pos="19000">
                <a:srgbClr val="0A2F41">
                  <a:alpha val="67843"/>
                </a:srgbClr>
              </a:gs>
              <a:gs pos="100000">
                <a:srgbClr val="156082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0"/>
          <p:cNvSpPr/>
          <p:nvPr/>
        </p:nvSpPr>
        <p:spPr>
          <a:xfrm flipH="1" rot="-5400000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0F4761">
                  <a:alpha val="16078"/>
                </a:srgbClr>
              </a:gs>
              <a:gs pos="23000">
                <a:srgbClr val="0F4761">
                  <a:alpha val="16078"/>
                </a:srgbClr>
              </a:gs>
              <a:gs pos="99000">
                <a:srgbClr val="000000">
                  <a:alpha val="45098"/>
                </a:srgbClr>
              </a:gs>
              <a:gs pos="100000">
                <a:srgbClr val="000000">
                  <a:alpha val="45098"/>
                </a:srgbClr>
              </a:gs>
            </a:gsLst>
            <a:lin ang="210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0"/>
          <p:cNvSpPr txBox="1"/>
          <p:nvPr>
            <p:ph type="title"/>
          </p:nvPr>
        </p:nvSpPr>
        <p:spPr>
          <a:xfrm>
            <a:off x="1383564" y="348865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s-ES" sz="4000">
                <a:solidFill>
                  <a:srgbClr val="FFFFFF"/>
                </a:solidFill>
              </a:rPr>
              <a:t>Ventajas</a:t>
            </a:r>
            <a:endParaRPr sz="4000">
              <a:solidFill>
                <a:srgbClr val="FFFFFF"/>
              </a:solidFill>
            </a:endParaRPr>
          </a:p>
        </p:txBody>
      </p:sp>
      <p:grpSp>
        <p:nvGrpSpPr>
          <p:cNvPr id="176" name="Google Shape;176;p10"/>
          <p:cNvGrpSpPr/>
          <p:nvPr/>
        </p:nvGrpSpPr>
        <p:grpSpPr>
          <a:xfrm>
            <a:off x="744738" y="3409620"/>
            <a:ext cx="10726464" cy="2102122"/>
            <a:chOff x="100682" y="793641"/>
            <a:chExt cx="10726464" cy="2102122"/>
          </a:xfrm>
        </p:grpSpPr>
        <p:sp>
          <p:nvSpPr>
            <p:cNvPr id="177" name="Google Shape;177;p10"/>
            <p:cNvSpPr/>
            <p:nvPr/>
          </p:nvSpPr>
          <p:spPr>
            <a:xfrm>
              <a:off x="752566" y="793641"/>
              <a:ext cx="1066720" cy="106672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0"/>
            <p:cNvSpPr/>
            <p:nvPr/>
          </p:nvSpPr>
          <p:spPr>
            <a:xfrm>
              <a:off x="100682" y="2175763"/>
              <a:ext cx="2370489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0"/>
            <p:cNvSpPr txBox="1"/>
            <p:nvPr/>
          </p:nvSpPr>
          <p:spPr>
            <a:xfrm>
              <a:off x="100682" y="2175763"/>
              <a:ext cx="2370489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Claridad en etapas.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0"/>
            <p:cNvSpPr/>
            <p:nvPr/>
          </p:nvSpPr>
          <p:spPr>
            <a:xfrm>
              <a:off x="3537891" y="793641"/>
              <a:ext cx="1066720" cy="106672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0"/>
            <p:cNvSpPr/>
            <p:nvPr/>
          </p:nvSpPr>
          <p:spPr>
            <a:xfrm>
              <a:off x="2886007" y="2175763"/>
              <a:ext cx="2370489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0"/>
            <p:cNvSpPr txBox="1"/>
            <p:nvPr/>
          </p:nvSpPr>
          <p:spPr>
            <a:xfrm>
              <a:off x="2886007" y="2175763"/>
              <a:ext cx="2370489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Fácil de gestionar en proyectos con requerimientos estables.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0"/>
            <p:cNvSpPr/>
            <p:nvPr/>
          </p:nvSpPr>
          <p:spPr>
            <a:xfrm>
              <a:off x="6323216" y="793641"/>
              <a:ext cx="1066720" cy="106672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0"/>
            <p:cNvSpPr/>
            <p:nvPr/>
          </p:nvSpPr>
          <p:spPr>
            <a:xfrm>
              <a:off x="5671332" y="2175763"/>
              <a:ext cx="2370489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0"/>
            <p:cNvSpPr txBox="1"/>
            <p:nvPr/>
          </p:nvSpPr>
          <p:spPr>
            <a:xfrm>
              <a:off x="5671332" y="2175763"/>
              <a:ext cx="2370489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Buena trazabilidad documental.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0"/>
            <p:cNvSpPr/>
            <p:nvPr/>
          </p:nvSpPr>
          <p:spPr>
            <a:xfrm>
              <a:off x="9108541" y="793641"/>
              <a:ext cx="1066720" cy="106672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0"/>
            <p:cNvSpPr/>
            <p:nvPr/>
          </p:nvSpPr>
          <p:spPr>
            <a:xfrm>
              <a:off x="8456657" y="2175763"/>
              <a:ext cx="2370489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0"/>
            <p:cNvSpPr txBox="1"/>
            <p:nvPr/>
          </p:nvSpPr>
          <p:spPr>
            <a:xfrm>
              <a:off x="8456657" y="2175763"/>
              <a:ext cx="2370489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Útil en entornos regulados (banca, defensa, gobierno).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1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761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1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1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156082">
                  <a:alpha val="29020"/>
                </a:srgbClr>
              </a:gs>
              <a:gs pos="2000">
                <a:srgbClr val="156082">
                  <a:alpha val="29020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1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1"/>
          <p:cNvSpPr/>
          <p:nvPr/>
        </p:nvSpPr>
        <p:spPr>
          <a:xfrm flipH="1" rot="5400000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B0E1">
                  <a:alpha val="10980"/>
                </a:srgbClr>
              </a:gs>
              <a:gs pos="100000">
                <a:srgbClr val="43B0E1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"/>
          <p:cNvSpPr txBox="1"/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s-ES" sz="4000">
                <a:solidFill>
                  <a:srgbClr val="FFFFFF"/>
                </a:solidFill>
              </a:rPr>
              <a:t>Limitaciones</a:t>
            </a:r>
            <a:endParaRPr sz="4000">
              <a:solidFill>
                <a:srgbClr val="FFFFFF"/>
              </a:solidFill>
            </a:endParaRPr>
          </a:p>
        </p:txBody>
      </p:sp>
      <p:grpSp>
        <p:nvGrpSpPr>
          <p:cNvPr id="200" name="Google Shape;200;p11"/>
          <p:cNvGrpSpPr/>
          <p:nvPr/>
        </p:nvGrpSpPr>
        <p:grpSpPr>
          <a:xfrm>
            <a:off x="5511508" y="750440"/>
            <a:ext cx="5453920" cy="5453920"/>
            <a:chOff x="606456" y="0"/>
            <a:chExt cx="5453920" cy="5453920"/>
          </a:xfrm>
        </p:grpSpPr>
        <p:sp>
          <p:nvSpPr>
            <p:cNvPr id="201" name="Google Shape;201;p11"/>
            <p:cNvSpPr/>
            <p:nvPr/>
          </p:nvSpPr>
          <p:spPr>
            <a:xfrm>
              <a:off x="606456" y="0"/>
              <a:ext cx="5453920" cy="5453920"/>
            </a:xfrm>
            <a:prstGeom prst="diamond">
              <a:avLst/>
            </a:prstGeom>
            <a:solidFill>
              <a:srgbClr val="F6D2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1"/>
            <p:cNvSpPr/>
            <p:nvPr/>
          </p:nvSpPr>
          <p:spPr>
            <a:xfrm>
              <a:off x="1124578" y="518122"/>
              <a:ext cx="2127028" cy="2127028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EA8155"/>
                </a:gs>
                <a:gs pos="50000">
                  <a:srgbClr val="F06E28"/>
                </a:gs>
                <a:gs pos="100000">
                  <a:srgbClr val="DD5D19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1"/>
            <p:cNvSpPr txBox="1"/>
            <p:nvPr/>
          </p:nvSpPr>
          <p:spPr>
            <a:xfrm>
              <a:off x="1228411" y="621955"/>
              <a:ext cx="1919362" cy="1919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None/>
              </a:pPr>
              <a:r>
                <a:rPr b="0" i="0" lang="es-ES" sz="1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Poco flexible ante cambios.</a:t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1"/>
            <p:cNvSpPr/>
            <p:nvPr/>
          </p:nvSpPr>
          <p:spPr>
            <a:xfrm>
              <a:off x="3415225" y="518122"/>
              <a:ext cx="2127028" cy="2127028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D0C74B"/>
                </a:gs>
                <a:gs pos="50000">
                  <a:srgbClr val="CFC416"/>
                </a:gs>
                <a:gs pos="100000">
                  <a:srgbClr val="BEB40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1"/>
            <p:cNvSpPr txBox="1"/>
            <p:nvPr/>
          </p:nvSpPr>
          <p:spPr>
            <a:xfrm>
              <a:off x="3519058" y="621955"/>
              <a:ext cx="1919362" cy="1919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None/>
              </a:pPr>
              <a:r>
                <a:rPr b="0" i="0" lang="es-ES" sz="1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Retroalimentación tardía.</a:t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1"/>
            <p:cNvSpPr/>
            <p:nvPr/>
          </p:nvSpPr>
          <p:spPr>
            <a:xfrm>
              <a:off x="1124578" y="2808768"/>
              <a:ext cx="2127028" cy="2127028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6AA24A"/>
                </a:gs>
                <a:gs pos="50000">
                  <a:srgbClr val="539C16"/>
                </a:gs>
                <a:gs pos="100000">
                  <a:srgbClr val="4A8E0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1"/>
            <p:cNvSpPr txBox="1"/>
            <p:nvPr/>
          </p:nvSpPr>
          <p:spPr>
            <a:xfrm>
              <a:off x="1228411" y="2912601"/>
              <a:ext cx="1919362" cy="1919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None/>
              </a:pPr>
              <a:r>
                <a:rPr b="0" i="0" lang="es-ES" sz="1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Riesgo alto si los requerimientos están mal definidos.</a:t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1"/>
            <p:cNvSpPr/>
            <p:nvPr/>
          </p:nvSpPr>
          <p:spPr>
            <a:xfrm>
              <a:off x="3415225" y="2808768"/>
              <a:ext cx="2127028" cy="2127028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97A4D"/>
                </a:gs>
                <a:gs pos="50000">
                  <a:srgbClr val="146B1F"/>
                </a:gs>
                <a:gs pos="100000">
                  <a:srgbClr val="0E6119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1"/>
            <p:cNvSpPr txBox="1"/>
            <p:nvPr/>
          </p:nvSpPr>
          <p:spPr>
            <a:xfrm>
              <a:off x="3519058" y="2912601"/>
              <a:ext cx="1919362" cy="1919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None/>
              </a:pPr>
              <a:r>
                <a:rPr b="0" i="0" lang="es-ES" sz="1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Entrega de valor al final del proyecto.</a:t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321732" y="321733"/>
            <a:ext cx="11546828" cy="6214534"/>
          </a:xfrm>
          <a:custGeom>
            <a:rect b="b" l="l" r="r" t="t"/>
            <a:pathLst>
              <a:path extrusionOk="0" h="6214534" w="11546828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rgbClr val="7F7F7F">
              <a:alpha val="2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2"/>
          <p:cNvSpPr txBox="1"/>
          <p:nvPr>
            <p:ph type="title"/>
          </p:nvPr>
        </p:nvSpPr>
        <p:spPr>
          <a:xfrm>
            <a:off x="1006900" y="1188637"/>
            <a:ext cx="3141430" cy="4480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00"/>
              <a:buFont typeface="Play"/>
              <a:buNone/>
            </a:pPr>
            <a:r>
              <a:rPr lang="es-ES" sz="6100"/>
              <a:t>Pregunta crítica al grupo </a:t>
            </a:r>
            <a:endParaRPr sz="6100"/>
          </a:p>
        </p:txBody>
      </p:sp>
      <p:cxnSp>
        <p:nvCxnSpPr>
          <p:cNvPr id="219" name="Google Shape;219;p12"/>
          <p:cNvCxnSpPr/>
          <p:nvPr/>
        </p:nvCxnSpPr>
        <p:spPr>
          <a:xfrm>
            <a:off x="4654296" y="1852863"/>
            <a:ext cx="0" cy="3236495"/>
          </a:xfrm>
          <a:prstGeom prst="straightConnector1">
            <a:avLst/>
          </a:prstGeom>
          <a:noFill/>
          <a:ln cap="sq" cmpd="sng" w="19050">
            <a:solidFill>
              <a:srgbClr val="3F3F3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0" name="Google Shape;220;p12"/>
          <p:cNvSpPr txBox="1"/>
          <p:nvPr>
            <p:ph idx="1" type="body"/>
          </p:nvPr>
        </p:nvSpPr>
        <p:spPr>
          <a:xfrm>
            <a:off x="5138928" y="1338729"/>
            <a:ext cx="4795584" cy="4180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Si hoy congeláramos su proyecto: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/>
              <a:t>¿Ya tienen todos los requerimientos claros?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/>
              <a:t>¿Ya identificaron todos los riesgos técnicos?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/>
              <a:t>¿Ya saben cómo se comportará el usuario real?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3"/>
          <p:cNvSpPr txBox="1"/>
          <p:nvPr>
            <p:ph type="title"/>
          </p:nvPr>
        </p:nvSpPr>
        <p:spPr>
          <a:xfrm>
            <a:off x="761800" y="762001"/>
            <a:ext cx="5334197" cy="1708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"/>
              <a:buNone/>
            </a:pPr>
            <a:r>
              <a:rPr lang="es-ES" sz="3700"/>
              <a:t>CDIO – Conceive, Design, Implement, Operate</a:t>
            </a:r>
            <a:endParaRPr sz="3700"/>
          </a:p>
        </p:txBody>
      </p:sp>
      <p:sp>
        <p:nvSpPr>
          <p:cNvPr id="227" name="Google Shape;227;p13"/>
          <p:cNvSpPr txBox="1"/>
          <p:nvPr>
            <p:ph idx="1" type="body"/>
          </p:nvPr>
        </p:nvSpPr>
        <p:spPr>
          <a:xfrm>
            <a:off x="761800" y="2470244"/>
            <a:ext cx="5334197" cy="3769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s-ES" sz="1900"/>
              <a:t>Este modelo propone un enfoque más integral.</a:t>
            </a:r>
            <a:endParaRPr sz="19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s-ES" sz="1900"/>
              <a:t>No solo se piensa en desarrollar. Se piensa en operar.</a:t>
            </a:r>
            <a:endParaRPr sz="19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s-ES" sz="1900"/>
              <a:t>Fases:</a:t>
            </a:r>
            <a:endParaRPr sz="19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s-ES" sz="1900"/>
              <a:t>Concebir</a:t>
            </a:r>
            <a:endParaRPr sz="19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s-ES" sz="1900"/>
              <a:t>Diseñar</a:t>
            </a:r>
            <a:endParaRPr sz="19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s-ES" sz="1900"/>
              <a:t>Implementar</a:t>
            </a:r>
            <a:endParaRPr sz="19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s-ES" sz="1900"/>
              <a:t>Operar</a:t>
            </a:r>
            <a:endParaRPr sz="1900"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s-ES" sz="1900"/>
              <a:t>La diferencia clave:</a:t>
            </a:r>
            <a:endParaRPr sz="19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s-ES" sz="1900"/>
              <a:t>Incluye el contexto real de uso.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sz="1900"/>
          </a:p>
        </p:txBody>
      </p:sp>
      <p:pic>
        <p:nvPicPr>
          <p:cNvPr descr="Un objeto para jugar" id="228" name="Google Shape;228;p13"/>
          <p:cNvPicPr preferRelativeResize="0"/>
          <p:nvPr/>
        </p:nvPicPr>
        <p:blipFill rotWithShape="1">
          <a:blip r:embed="rId3">
            <a:alphaModFix/>
          </a:blip>
          <a:srcRect b="4" l="29964" r="18582" t="0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noFill/>
          <a:ln>
            <a:noFill/>
          </a:ln>
          <a:effectLst>
            <a:outerShdw blurRad="127000" sx="99000" rotWithShape="0" algn="r" dir="10800000" dist="50800" sy="99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4" name="Google Shape;234;p14"/>
          <p:cNvGrpSpPr/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</p:grpSpPr>
        <p:sp>
          <p:nvSpPr>
            <p:cNvPr id="235" name="Google Shape;235;p14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8" name="Google Shape;238;p14"/>
          <p:cNvSpPr/>
          <p:nvPr/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4"/>
          <p:cNvSpPr txBox="1"/>
          <p:nvPr>
            <p:ph type="title"/>
          </p:nvPr>
        </p:nvSpPr>
        <p:spPr>
          <a:xfrm>
            <a:off x="1043631" y="809898"/>
            <a:ext cx="994271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es-ES" sz="4800"/>
              <a:t>Taller aplicado al Proyecto Integrador</a:t>
            </a:r>
            <a:endParaRPr sz="4800"/>
          </a:p>
        </p:txBody>
      </p:sp>
      <p:sp>
        <p:nvSpPr>
          <p:cNvPr id="240" name="Google Shape;240;p14"/>
          <p:cNvSpPr txBox="1"/>
          <p:nvPr>
            <p:ph idx="1" type="body"/>
          </p:nvPr>
        </p:nvSpPr>
        <p:spPr>
          <a:xfrm>
            <a:off x="1045028" y="3017522"/>
            <a:ext cx="9941319" cy="3124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ES" sz="2000"/>
              <a:t>Cada equipo debe analizar su proyecto bajo el modelo en cascada.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ES" sz="2000"/>
              <a:t>Deben responder: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/>
              <a:t>Si hoy cerraran los requerimientos definitivamente:</a:t>
            </a:r>
            <a:endParaRPr sz="2000"/>
          </a:p>
          <a:p>
            <a:pPr indent="-2857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/>
              <a:t>¿Qué les falta definir?</a:t>
            </a:r>
            <a:endParaRPr sz="2000"/>
          </a:p>
          <a:p>
            <a:pPr indent="-2857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/>
              <a:t>¿Qué riesgos asumirían?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/>
              <a:t>¿Qué pasaría si en la semana 8 el “cliente” cambia una funcionalidad clave?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/>
              <a:t>Identifiquen:</a:t>
            </a:r>
            <a:endParaRPr sz="2000"/>
          </a:p>
          <a:p>
            <a:pPr indent="-2857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/>
              <a:t>2 dependencias externas (servicios, APIs, herramientas).</a:t>
            </a:r>
            <a:endParaRPr sz="2000"/>
          </a:p>
          <a:p>
            <a:pPr indent="-2857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/>
              <a:t>2 riesgos técnicos actuales.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/>
              <a:t>¿Qué partes de su sistema serían más costosas de modificar?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cxnSp>
        <p:nvCxnSpPr>
          <p:cNvPr id="241" name="Google Shape;241;p14"/>
          <p:cNvCxnSpPr/>
          <p:nvPr/>
        </p:nvCxnSpPr>
        <p:spPr>
          <a:xfrm rot="10800000">
            <a:off x="838200" y="6485313"/>
            <a:ext cx="10515600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5"/>
          <p:cNvSpPr txBox="1"/>
          <p:nvPr>
            <p:ph type="title"/>
          </p:nvPr>
        </p:nvSpPr>
        <p:spPr>
          <a:xfrm>
            <a:off x="761800" y="762001"/>
            <a:ext cx="5334197" cy="1708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s-ES" sz="4000"/>
              <a:t>Cierre </a:t>
            </a:r>
            <a:endParaRPr sz="4000"/>
          </a:p>
        </p:txBody>
      </p:sp>
      <p:sp>
        <p:nvSpPr>
          <p:cNvPr id="248" name="Google Shape;248;p15"/>
          <p:cNvSpPr txBox="1"/>
          <p:nvPr>
            <p:ph idx="1" type="body"/>
          </p:nvPr>
        </p:nvSpPr>
        <p:spPr>
          <a:xfrm>
            <a:off x="761800" y="2470244"/>
            <a:ext cx="5334197" cy="3769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ES" sz="2000"/>
              <a:t>Las metodologías tradicionales no son malas.</a:t>
            </a:r>
            <a:br>
              <a:rPr lang="es-ES" sz="2000"/>
            </a:br>
            <a:r>
              <a:rPr lang="es-ES" sz="2000"/>
              <a:t> Funcionan cuando el contexto es estable.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ES" sz="2000"/>
              <a:t>El problema no es la metodología.</a:t>
            </a:r>
            <a:br>
              <a:rPr lang="es-ES" sz="2000"/>
            </a:br>
            <a:r>
              <a:rPr lang="es-ES" sz="2000"/>
              <a:t> Es usarla en un entorno que cambia constantemente.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ES" sz="2000"/>
              <a:t>Y el software moderno vive en cambio constante.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descr="Script de ordenador en una pantalla" id="249" name="Google Shape;249;p15"/>
          <p:cNvPicPr preferRelativeResize="0"/>
          <p:nvPr/>
        </p:nvPicPr>
        <p:blipFill rotWithShape="1">
          <a:blip r:embed="rId3">
            <a:alphaModFix/>
          </a:blip>
          <a:srcRect b="-3" l="5638" r="42602" t="0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noFill/>
          <a:ln>
            <a:noFill/>
          </a:ln>
          <a:effectLst>
            <a:outerShdw blurRad="127000" sx="99000" rotWithShape="0" algn="r" dir="10800000" dist="50800" sy="99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"/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1" y="0"/>
            <a:ext cx="8522446" cy="228599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96900" sx="90000" rotWithShape="0" algn="t" dir="7140000" dist="304800" sy="90000">
              <a:srgbClr val="000000">
                <a:alpha val="1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6"/>
          <p:cNvSpPr txBox="1"/>
          <p:nvPr>
            <p:ph type="title"/>
          </p:nvPr>
        </p:nvSpPr>
        <p:spPr>
          <a:xfrm>
            <a:off x="761803" y="350196"/>
            <a:ext cx="4646904" cy="16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s-ES" sz="4000"/>
              <a:t>Mensaje de Hoy</a:t>
            </a:r>
            <a:endParaRPr/>
          </a:p>
        </p:txBody>
      </p:sp>
      <p:sp>
        <p:nvSpPr>
          <p:cNvPr id="257" name="Google Shape;257;p16"/>
          <p:cNvSpPr txBox="1"/>
          <p:nvPr>
            <p:ph idx="1" type="body"/>
          </p:nvPr>
        </p:nvSpPr>
        <p:spPr>
          <a:xfrm>
            <a:off x="761802" y="2743200"/>
            <a:ext cx="4646905" cy="36131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“Un buen ingeniero no solo sigue un método; entiende el contexto en el que lo aplica.”</a:t>
            </a:r>
            <a:endParaRPr/>
          </a:p>
        </p:txBody>
      </p:sp>
      <p:pic>
        <p:nvPicPr>
          <p:cNvPr descr="Qué es el software: ejemplos | Blog Santander Open Academy" id="258" name="Google Shape;258;p16"/>
          <p:cNvPicPr preferRelativeResize="0"/>
          <p:nvPr/>
        </p:nvPicPr>
        <p:blipFill rotWithShape="1">
          <a:blip r:embed="rId3">
            <a:alphaModFix/>
          </a:blip>
          <a:srcRect b="1" l="15225" r="28491" t="0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2026-02-23T03:38:34Z</dcterms:created>
</cp:coreProperties>
</file>